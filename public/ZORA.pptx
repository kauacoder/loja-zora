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consolata Medium"/>
      <p:regular r:id="rId201314"/>
    </p:embeddedFont>
    <p:embeddedFont>
      <p:font typeface="Kanit Bold"/>
      <p:regular r:id="rId201315"/>
    </p:embeddedFont>
    <p:embeddedFont>
      <p:font typeface="Ubuntu"/>
      <p:regular r:id="rId201316"/>
    </p:embeddedFont>
    <p:embeddedFont>
      <p:font typeface="Ubuntu Medium"/>
      <p:regular r:id="rId201317"/>
    </p:embeddedFont>
    <p:embeddedFont>
      <p:font typeface="Ubuntu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apresentação ZORA. Apresentar o projeto como uma solução de comércio eletrônico de moda feminina voltada a unir fluidez no navegador a um controle transacional confiável no backend. Destacar que a proposta conecta navegação de produto, carrinho persistente, autenticação de clientes e tela administrativa de estoque. Informar aos avaliadores que a apresentação segue da visão geral aos detalhes de banco e implementação.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dualidade do sistema: ZORA não é apenas um catálogo visual, mas uma aplicação orientada a regras de negócio. De um lado, o cliente descobre peças, organiza seu carrinho e finaliza pedidos; do outro, a operação monitora inventário e ajusta detalhes de mercadoria. Essa separação clara orientou tanto a arquitetura quanto a modelagem relacional dos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jornada do navegador ao banco: HTML e CSS estruturam a experiência, JavaScript conduz as interações, e PHP com PDO acessa o PostgreSQL. As setas indicam requisição e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a importância do congelamento de preço na tabela ITENS_PEDIDO: mesmo que um produto sofra reajuste na tabela PRODUTOS posteriormente, o valor histórico da transação do cliente permanece íntegro. Esclarecer também que a relação com FORNECEDORES apoia a estrutura do catálogo, mas o gerenciamento pleno de fornecedores é escopo para as próximas etapas.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importância da ficha técnica: no setor de moda, detalhes como composição do tecido e modelagem reduzem devoluções e aumentam a confiança da consumidora. Na demonstração prática, este será o ponto de partida onde o usuário seleciona um vestido ou blusa para inspecionar os atributos antes de enviar para o carrinho.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como o localStorage mantém o carrinho durante a navegação. Em seguida, passar da experiência do cliente para a área administrativa.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camada de segurança: a aplicação não confia apenas em validação client-side. Ao submeter credenciais, o script PHP consulta o banco com queries preparadas. Se autenticado, os identificadores são mantidos na sessão do servidor. Telas restritas como perfil e histórico executam verificações de sessão no topo do script para bloquear acessos anônimos.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essencial do roteiro: demonstrar como a cliente consulta seus pedidos finalizados. Ressaltar com clareza o aviso técnico de que o botão 'Pagar' representa o gatilho conceitual de checkout no escopo atual, sem transação financeira bancária real integrada. Em seguida, passar para a visão da gerência da loja.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TelaAdmin como o centro de comando do lojista. Explicar como a interface permite consultar produtos e saldo de estoque, editar preço e especificações cadastrais e executar a reposição de itens. Mencionar que a reposição respeita limites pré-definidos de capacidade de estoque para evitar inconsistências no inventário.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Conclusão e transição para a demonstração prática: repassar os desafios reais superados pela equipe (drivers de conexão, banco, caminhos e correções no admin). Encerrar convidando para a sequência de demonstração ao vivo: 1) Abrir a página inicial; 2) Acessar o detalhe de um produto; 3) Efetuar cadastro/login; 4) Demonstrar o perfil; 5) Montar carrinho com cálculo dinâmico; 6) Registrar o pedido; 7) Conferir no histórico do cliente; 8) Acessar a TelaAdmin para demonstrar a edição e reposição de estoque.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6E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2E2A9C"/>
          </a:solidFill>
          <a:ln/>
        </p:spPr>
      </p:sp>
      <p:sp>
        <p:nvSpPr>
          <p:cNvPr id="3" name="Shape 1"/>
          <p:cNvSpPr/>
          <p:nvPr/>
        </p:nvSpPr>
        <p:spPr>
          <a:xfrm>
            <a:off x="711182" y="711200"/>
            <a:ext cx="1799386" cy="254000"/>
          </a:xfrm>
          <a:prstGeom prst="roundRect">
            <a:avLst>
              <a:gd name="adj" fmla="val 49999"/>
            </a:avLst>
          </a:prstGeom>
          <a:solidFill>
            <a:srgbClr val="F2B100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763270"/>
            <a:ext cx="215497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000000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PROJETO E-COMMERCE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1182" y="1973798"/>
            <a:ext cx="6045049" cy="810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800" b="1" spc="-116" kern="100" dirty="0">
                <a:solidFill>
                  <a:srgbClr val="FFFFFF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ZORA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11182" y="2944039"/>
            <a:ext cx="604504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FFFFFF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Loja virtual de roupas femininas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1182" y="3534251"/>
            <a:ext cx="6045049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Arquitetura integrada conectando experiência do cliente, persistência de pedidos e gestão operacional de estoque.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1182" y="6153249"/>
            <a:ext cx="6045049" cy="95250"/>
          </a:xfrm>
          <a:prstGeom prst="rect">
            <a:avLst/>
          </a:prstGeom>
          <a:solidFill>
            <a:srgbClr val="F2B100"/>
          </a:solidFill>
          <a:ln/>
        </p:spPr>
      </p:sp>
      <p:sp>
        <p:nvSpPr>
          <p:cNvPr id="9" name="Text 7"/>
          <p:cNvSpPr/>
          <p:nvPr/>
        </p:nvSpPr>
        <p:spPr>
          <a:xfrm>
            <a:off x="711182" y="5502096"/>
            <a:ext cx="6045049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F5D9D7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Equipe: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 [Nome dos Alunos] · [Curso / Disciplina] · [Instituição] · Prof. [Nome do Docente] · [Data]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2E2A9C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355600"/>
            <a:ext cx="4876678" cy="65024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019649" y="6019800"/>
            <a:ext cx="355591" cy="355600"/>
          </a:xfrm>
          <a:prstGeom prst="ellipse">
            <a:avLst/>
          </a:prstGeom>
          <a:solidFill>
            <a:srgbClr val="FDF4FE"/>
          </a:solidFill>
          <a:ln w="76200">
            <a:solidFill>
              <a:srgbClr val="F2B1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198433" cy="254000"/>
          </a:xfrm>
          <a:prstGeom prst="roundRect">
            <a:avLst>
              <a:gd name="adj" fmla="val 49999"/>
            </a:avLst>
          </a:prstGeom>
          <a:solidFill>
            <a:srgbClr val="2E2A9C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661670"/>
            <a:ext cx="155402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VISÃO GERAL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976630"/>
            <a:ext cx="5625959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2A1036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Uma loja virtual que conecta experiência e operação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8331" y="2684859"/>
            <a:ext cx="63498" cy="712589"/>
          </a:xfrm>
          <a:prstGeom prst="rect">
            <a:avLst/>
          </a:prstGeom>
          <a:solidFill>
            <a:srgbClr val="2E2A9C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5" y="2494459"/>
            <a:ext cx="380990" cy="381000"/>
          </a:xfrm>
          <a:prstGeom prst="ellipse">
            <a:avLst/>
          </a:prstGeom>
          <a:solidFill>
            <a:srgbClr val="F6E0FA"/>
          </a:solidFill>
          <a:ln w="38099">
            <a:solidFill>
              <a:srgbClr val="2E2A9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371" y="2359819"/>
            <a:ext cx="425737" cy="254000"/>
          </a:xfrm>
          <a:prstGeom prst="roundRect">
            <a:avLst>
              <a:gd name="adj" fmla="val 49999"/>
            </a:avLst>
          </a:prstGeom>
          <a:solidFill>
            <a:srgbClr val="2E2A9C"/>
          </a:solidFill>
          <a:ln/>
        </p:spPr>
      </p:sp>
      <p:sp>
        <p:nvSpPr>
          <p:cNvPr id="8" name="Text 6"/>
          <p:cNvSpPr/>
          <p:nvPr/>
        </p:nvSpPr>
        <p:spPr>
          <a:xfrm>
            <a:off x="1295368" y="2411889"/>
            <a:ext cx="78132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68371" y="2708434"/>
            <a:ext cx="5067173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A1036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Consulta de produtos e navegação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68331" y="3397647"/>
            <a:ext cx="63498" cy="1425377"/>
          </a:xfrm>
          <a:prstGeom prst="rect">
            <a:avLst/>
          </a:prstGeom>
          <a:solidFill>
            <a:srgbClr val="F2B100"/>
          </a:solidFill>
          <a:ln/>
        </p:spPr>
      </p:sp>
      <p:sp>
        <p:nvSpPr>
          <p:cNvPr id="11" name="Shape 9"/>
          <p:cNvSpPr/>
          <p:nvPr/>
        </p:nvSpPr>
        <p:spPr>
          <a:xfrm>
            <a:off x="609585" y="3919835"/>
            <a:ext cx="380990" cy="381000"/>
          </a:xfrm>
          <a:prstGeom prst="ellipse">
            <a:avLst/>
          </a:prstGeom>
          <a:solidFill>
            <a:srgbClr val="F6E0FA"/>
          </a:solidFill>
          <a:ln w="38099">
            <a:solidFill>
              <a:srgbClr val="F2B1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8371" y="3785195"/>
            <a:ext cx="425737" cy="254000"/>
          </a:xfrm>
          <a:prstGeom prst="roundRect">
            <a:avLst>
              <a:gd name="adj" fmla="val 49999"/>
            </a:avLst>
          </a:prstGeom>
          <a:solidFill>
            <a:srgbClr val="F2B100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368" y="3837265"/>
            <a:ext cx="78132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000000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8371" y="4133810"/>
            <a:ext cx="5067173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A1036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Identificação do cliente e registro de pedidos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68331" y="4823023"/>
            <a:ext cx="63498" cy="712589"/>
          </a:xfrm>
          <a:prstGeom prst="rect">
            <a:avLst/>
          </a:prstGeom>
          <a:solidFill>
            <a:srgbClr val="17804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5" y="5345212"/>
            <a:ext cx="380990" cy="381000"/>
          </a:xfrm>
          <a:prstGeom prst="ellipse">
            <a:avLst/>
          </a:prstGeom>
          <a:solidFill>
            <a:srgbClr val="F6E0FA"/>
          </a:solidFill>
          <a:ln w="38099">
            <a:solidFill>
              <a:srgbClr val="1780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8371" y="5210572"/>
            <a:ext cx="425737" cy="254000"/>
          </a:xfrm>
          <a:prstGeom prst="roundRect">
            <a:avLst>
              <a:gd name="adj" fmla="val 49999"/>
            </a:avLst>
          </a:prstGeom>
          <a:solidFill>
            <a:srgbClr val="17804A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368" y="5262642"/>
            <a:ext cx="78132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8371" y="5559187"/>
            <a:ext cx="5067173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A1036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Administração de produtos e estoque</a:t>
            </a:r>
            <a:endParaRPr lang="en-US" sz="19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1902" y="1593850"/>
            <a:ext cx="3670208" cy="3670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150189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2A1036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Do navegador ao banco em uma única jornada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734370"/>
            <a:ext cx="2600954" cy="2054721"/>
          </a:xfrm>
          <a:prstGeom prst="rect">
            <a:avLst/>
          </a:prstGeom>
          <a:solidFill>
            <a:srgbClr val="EDCFF4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2975035"/>
            <a:ext cx="214376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A1036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Navegador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8179" y="3427730"/>
            <a:ext cx="214376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HTML e CSS estruturam a experiência. JavaScript conduz as interações.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15332" y="3487043"/>
            <a:ext cx="975296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5E446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Requisição →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446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← Resposta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95321" y="2734370"/>
            <a:ext cx="2600954" cy="2054721"/>
          </a:xfrm>
          <a:prstGeom prst="rect">
            <a:avLst/>
          </a:prstGeom>
          <a:solidFill>
            <a:srgbClr val="EDCFF4"/>
          </a:solidFill>
          <a:ln/>
        </p:spPr>
      </p:sp>
      <p:sp>
        <p:nvSpPr>
          <p:cNvPr id="8" name="Text 6"/>
          <p:cNvSpPr/>
          <p:nvPr/>
        </p:nvSpPr>
        <p:spPr>
          <a:xfrm>
            <a:off x="5023915" y="2975035"/>
            <a:ext cx="214376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A1036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Servidor PHP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23915" y="3427730"/>
            <a:ext cx="214376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PHP com PDO acessa o PostgreSQL.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00968" y="3487043"/>
            <a:ext cx="975296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5E446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Requisição →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446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← Resposta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81057" y="2734370"/>
            <a:ext cx="2601054" cy="2054721"/>
          </a:xfrm>
          <a:prstGeom prst="rect">
            <a:avLst/>
          </a:prstGeom>
          <a:solidFill>
            <a:srgbClr val="EDCFF4"/>
          </a:solidFill>
          <a:ln/>
        </p:spPr>
      </p:sp>
      <p:sp>
        <p:nvSpPr>
          <p:cNvPr id="12" name="Text 10"/>
          <p:cNvSpPr/>
          <p:nvPr/>
        </p:nvSpPr>
        <p:spPr>
          <a:xfrm>
            <a:off x="9209651" y="2975035"/>
            <a:ext cx="214386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A1036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209651" y="3427730"/>
            <a:ext cx="237245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PostgreSQL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713465" cy="254000"/>
          </a:xfrm>
          <a:prstGeom prst="roundRect">
            <a:avLst>
              <a:gd name="adj" fmla="val 49999"/>
            </a:avLst>
          </a:prstGeom>
          <a:solidFill>
            <a:srgbClr val="F2B100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661670"/>
            <a:ext cx="206905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000000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MODELO RELACIONAL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9766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2A1036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Os dados da loja vivem em relações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56589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 modelagem do banco 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A1036"/>
                </a:solidFill>
                <a:highlight>
                  <a:srgbClr val="EDCF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Loja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 separa perfil cadastral, catálogo e ciclo de compra.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2029420"/>
            <a:ext cx="2128983" cy="20320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2A10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8941" y="2070378"/>
            <a:ext cx="2353013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22" kern="100" dirty="0">
                <a:solidFill>
                  <a:srgbClr val="2A1036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Identificação do Cliente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14766" y="2029420"/>
            <a:ext cx="2056356" cy="20320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2A10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4122" y="2070378"/>
            <a:ext cx="2280387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22" kern="100" dirty="0">
                <a:solidFill>
                  <a:srgbClr val="2A1036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Catálogo e Fornecedores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47320" y="2029420"/>
            <a:ext cx="1838477" cy="20320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2A10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6676" y="2070378"/>
            <a:ext cx="2062508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22" kern="100" dirty="0">
                <a:solidFill>
                  <a:srgbClr val="2A1036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Compra e Faturamento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61996" y="2029420"/>
            <a:ext cx="1838477" cy="20320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2A10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1352" y="2070378"/>
            <a:ext cx="2062508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22" kern="100" dirty="0">
                <a:solidFill>
                  <a:srgbClr val="2A1036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Auditoria e Registro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416770"/>
          <a:ext cx="10972526" cy="914400"/>
        </p:xfrm>
        <a:graphic>
          <a:graphicData uri="http://schemas.openxmlformats.org/drawingml/2006/table">
            <a:tbl>
              <a:tblPr/>
              <a:tblGrid>
                <a:gridCol w="2962499"/>
                <a:gridCol w="8010027"/>
              </a:tblGrid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Tabela Principal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Papel no Sistema ZORA · Relações Críticas (FK) · Papel na Compra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4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CLIENTES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 e 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ENDEREÇOS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Cadastro de usuários, credenciais autenticadas e endereçamento para cálculo de entrega. · cliente_id → endereco_id · Autenticação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4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PRODUTOS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 e 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FORNECEDORES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Informações de venda, especificações têxteis, saldo de estoque e proveniência fabril. · fornecedor_id → produto_id · Disponibilidade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4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PEDIDOS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, 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vendas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 e 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ITENS_PEDIDO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Snapshot transacional da compra: preço histórico congelado, quantidades e status do fechamento. · pedido_id → produto_id · Fechamento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4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LOGS_OPERAÇÕES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Rastreamento de alterações cadastrais, edições administrativas e movimentação do estoque. · usuario_id · data_hora · Rastreabilidade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09585" y="6032798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446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* Regras complexas de gatilhos automáticos no PostgreSQL foram modeladas e permanecem sujeitas à validação de ambiente.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0080"/>
            <a:ext cx="5821614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2A1036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O catálogo transforma dados em descoberta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635720"/>
            <a:ext cx="5821614" cy="954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Página inicial com promoções e navegação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Produtos com nome, preço e descrição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Detalhes de tamanho, tecido, composição, marca e coleção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457" y="1112540"/>
            <a:ext cx="3474653" cy="463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26191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2A1036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O carrinho acompanha a decisão de compra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2846090"/>
            <a:ext cx="72507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E2A9C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585" y="3136920"/>
            <a:ext cx="335271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Adicionar produtos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19489" y="2846090"/>
            <a:ext cx="72507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E2A9C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19489" y="3136920"/>
            <a:ext cx="335271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Ajustar quantidades ou remover itens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394" y="2846090"/>
            <a:ext cx="72507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E2A9C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394" y="3136920"/>
            <a:ext cx="335271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Recalcular o total em reais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585" y="3884910"/>
            <a:ext cx="10972526" cy="741660"/>
          </a:xfrm>
          <a:prstGeom prst="rect">
            <a:avLst/>
          </a:prstGeom>
          <a:solidFill>
            <a:srgbClr val="DAC7ED"/>
          </a:solidFill>
          <a:ln/>
        </p:spPr>
      </p:sp>
      <p:sp>
        <p:nvSpPr>
          <p:cNvPr id="10" name="Text 8"/>
          <p:cNvSpPr/>
          <p:nvPr/>
        </p:nvSpPr>
        <p:spPr>
          <a:xfrm>
            <a:off x="838179" y="4118590"/>
            <a:ext cx="1074393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O </a:t>
            </a:r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localStorage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 mantém o carrinho durante a navegação.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799386" cy="254000"/>
          </a:xfrm>
          <a:prstGeom prst="roundRect">
            <a:avLst>
              <a:gd name="adj" fmla="val 49999"/>
            </a:avLst>
          </a:prstGeom>
          <a:solidFill>
            <a:srgbClr val="F2B100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661670"/>
            <a:ext cx="215497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000000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SEGURANÇA E SESSÃO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9766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2A1036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Cadastro e login ativam a experiência personalizada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566843"/>
            <a:ext cx="11582110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 autenticação faz a ponte entre o visitante anônimo e o cliente com histórico e dados salvos: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09585" y="2127151"/>
            <a:ext cx="3352716" cy="76200"/>
          </a:xfrm>
          <a:prstGeom prst="rect">
            <a:avLst/>
          </a:prstGeom>
          <a:solidFill>
            <a:srgbClr val="2E2A9C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5" y="2457351"/>
            <a:ext cx="1198433" cy="254000"/>
          </a:xfrm>
          <a:prstGeom prst="roundRect">
            <a:avLst>
              <a:gd name="adj" fmla="val 49999"/>
            </a:avLst>
          </a:prstGeom>
          <a:solidFill>
            <a:srgbClr val="2E2A9C"/>
          </a:solidFill>
          <a:ln/>
        </p:spPr>
      </p:sp>
      <p:sp>
        <p:nvSpPr>
          <p:cNvPr id="8" name="Text 6"/>
          <p:cNvSpPr/>
          <p:nvPr/>
        </p:nvSpPr>
        <p:spPr>
          <a:xfrm>
            <a:off x="736582" y="2509421"/>
            <a:ext cx="155402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FORMULÁRIOS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585" y="2803108"/>
            <a:ext cx="3200320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A1036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Integração PHP e PostgreSQL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9585" y="3672900"/>
            <a:ext cx="3200320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Captura de dados pessoais, validação de campos obrigatórios e sanitização via PDO antes da inserção na tabela de clientes.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19489" y="2127151"/>
            <a:ext cx="3352716" cy="76200"/>
          </a:xfrm>
          <a:prstGeom prst="rect">
            <a:avLst/>
          </a:prstGeom>
          <a:solidFill>
            <a:srgbClr val="F2B1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9489" y="2457351"/>
            <a:ext cx="769125" cy="254000"/>
          </a:xfrm>
          <a:prstGeom prst="roundRect">
            <a:avLst>
              <a:gd name="adj" fmla="val 49999"/>
            </a:avLst>
          </a:prstGeom>
          <a:solidFill>
            <a:srgbClr val="F2B1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46486" y="2509421"/>
            <a:ext cx="112471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000000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ESTADO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19489" y="2803108"/>
            <a:ext cx="320032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A1036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Sessão PHP no Servidor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19489" y="3309759"/>
            <a:ext cx="3200320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Identificação persistente da usuária conectada (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2A1036"/>
                </a:solidFill>
                <a:highlight>
                  <a:srgbClr val="EDCF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$_SESSION['cliente_id']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), garantindo que cada ação pertença à conta correta.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394" y="2127151"/>
            <a:ext cx="3352716" cy="76200"/>
          </a:xfrm>
          <a:prstGeom prst="rect">
            <a:avLst/>
          </a:prstGeom>
          <a:solidFill>
            <a:srgbClr val="D11F3F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394" y="2457351"/>
            <a:ext cx="940868" cy="254000"/>
          </a:xfrm>
          <a:prstGeom prst="roundRect">
            <a:avLst>
              <a:gd name="adj" fmla="val 49999"/>
            </a:avLst>
          </a:prstGeom>
          <a:solidFill>
            <a:srgbClr val="D11F3F"/>
          </a:solidFill>
          <a:ln/>
        </p:spPr>
      </p:sp>
      <p:sp>
        <p:nvSpPr>
          <p:cNvPr id="18" name="Text 16"/>
          <p:cNvSpPr/>
          <p:nvPr/>
        </p:nvSpPr>
        <p:spPr>
          <a:xfrm>
            <a:off x="8356391" y="2509421"/>
            <a:ext cx="12964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CONTROLE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394" y="2803108"/>
            <a:ext cx="3200320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2A1036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Proteção de Rotas Restritas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394" y="3672900"/>
            <a:ext cx="3200320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Páginas de perfil e histórico verificam ativamente a sessão; usuários não autenticados são redirecionados à tela de login.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784820"/>
            <a:ext cx="2829549" cy="254000"/>
          </a:xfrm>
          <a:prstGeom prst="roundRect">
            <a:avLst>
              <a:gd name="adj" fmla="val 49999"/>
            </a:avLst>
          </a:prstGeom>
          <a:solidFill>
            <a:srgbClr val="17804A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836890"/>
            <a:ext cx="318514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RELACIONAMENTO E TRANSPARÊNCIA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22170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2A1036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Perfil e histórico dão continuidade à compra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2034480"/>
            <a:ext cx="6400640" cy="954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Dados pessoais, telefone e endereço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Consulta dos pedidos associados ao cliente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Relação entre compra, histórico e estoque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3110111"/>
            <a:ext cx="6400640" cy="1076920"/>
          </a:xfrm>
          <a:prstGeom prst="roundRect">
            <a:avLst>
              <a:gd name="adj" fmla="val 16981"/>
            </a:avLst>
          </a:prstGeom>
          <a:solidFill>
            <a:srgbClr val="FFB3B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3402211"/>
            <a:ext cx="253994" cy="20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9968" y="3369191"/>
            <a:ext cx="553706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Transparência acadêmica: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 o botão "Pagar" existe na interface, mas a cobrança externa real não está confirmada.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512" y="2034480"/>
            <a:ext cx="3810004" cy="38100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799386" cy="254000"/>
          </a:xfrm>
          <a:prstGeom prst="roundRect">
            <a:avLst>
              <a:gd name="adj" fmla="val 49999"/>
            </a:avLst>
          </a:prstGeom>
          <a:solidFill>
            <a:srgbClr val="2E2A9C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661670"/>
            <a:ext cx="215497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FFFFFF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GESTÃO OPERACIONAL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97663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2A1036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A administração mantém o catálogo em movimento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566843"/>
            <a:ext cx="10972526" cy="681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 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A1036"/>
                </a:solidFill>
                <a:highlight>
                  <a:srgbClr val="EDCF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TelaAdmin</a:t>
            </a:r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A103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 concentra as ferramentas essenciais para a sustentação do catálogo e controle de inventário: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73114"/>
          <a:ext cx="10972526" cy="914400"/>
        </p:xfrm>
        <a:graphic>
          <a:graphicData uri="http://schemas.openxmlformats.org/drawingml/2006/table">
            <a:tbl>
              <a:tblPr/>
              <a:tblGrid>
                <a:gridCol w="2194465"/>
                <a:gridCol w="2852765"/>
                <a:gridCol w="2962499"/>
                <a:gridCol w="2962796"/>
              </a:tblGrid>
              <a:tr h="9308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Módulo Operacional</a:t>
                      </a:r>
                      <a:endParaRPr lang="en-US" sz="125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Consulta Rápida</a:t>
                      </a:r>
                      <a:endParaRPr lang="en-US" sz="20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Visibilidade</a:t>
                      </a:r>
                      <a:endParaRPr lang="en-US" sz="20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E2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A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A9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Edição Cadastral</a:t>
                      </a:r>
                      <a:endParaRPr lang="en-US" sz="20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Atualização</a:t>
                      </a:r>
                      <a:endParaRPr lang="en-US" sz="20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2B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B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B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Reposição</a:t>
                      </a:r>
                      <a:endParaRPr lang="en-US" sz="20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Controle Físico</a:t>
                      </a:r>
                      <a:endParaRPr lang="en-US" sz="20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78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8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04A"/>
                    </a:solidFill>
                  </a:tcPr>
                </a:tc>
              </a:tr>
              <a:tr h="10285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Função central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Listagem geral de peças ativas com seus saldos de estoque atuais.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Ajuste de nome comercial, precificação vigente e descrição técnica.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Entrada de novos lotes com validação de limite operacional de segurança.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4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Impacto no Banco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Leitura direta da tabela 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PRODUTOS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 via PDO.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 parametrizado com integridade de dados.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Atualização de quantidade e registro em tabela de logs.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12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Regra de Negócio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Atualização em tempo real para os clientes da vitrine.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Prevenção de campos em branco e valores negativos.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1036"/>
                          </a:solidFill>
                          <a:latin typeface="Ubuntu" pitchFamily="34" charset="0"/>
                          <a:ea typeface="Ubuntu" pitchFamily="34" charset="-122"/>
                          <a:cs typeface="Ubuntu" pitchFamily="34" charset="-120"/>
                        </a:rPr>
                        <a:t>Bloqueio de reposições que excedam o teto do depósito.</a:t>
                      </a:r>
                      <a:endParaRPr lang="en-US" sz="1600" dirty="0">
                        <a:latin typeface="Ubuntu" charset="0"/>
                        <a:ea typeface="Ubuntu" charset="0"/>
                        <a:cs typeface="Ubuntu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008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2A1036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Os maiores desafios foram de integração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65866"/>
            <a:ext cx="355591" cy="355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7572" y="1551265"/>
            <a:ext cx="1046453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A1036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Drivers pdo_pgsql e pgsql no Windows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2936177"/>
            <a:ext cx="355591" cy="355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7572" y="2921575"/>
            <a:ext cx="1046453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A1036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Credenciais e identificação do banco Loja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306487"/>
            <a:ext cx="355591" cy="355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17572" y="4291886"/>
            <a:ext cx="1046453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A1036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Servidor local, caminhos e comunicação entre páginas</a:t>
            </a:r>
            <a:endParaRPr lang="en-US" sz="17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5676896"/>
            <a:ext cx="355591" cy="355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17572" y="5662295"/>
            <a:ext cx="1046453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2A1036"/>
                </a:solidFill>
                <a:latin typeface="Ubuntu Medium" pitchFamily="34" charset="0"/>
                <a:ea typeface="Ubuntu Medium" pitchFamily="34" charset="-122"/>
                <a:cs typeface="Ubuntu Medium" pitchFamily="34" charset="-120"/>
              </a:rPr>
              <a:t>Correção da edição de produtos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609585" y="2359620"/>
            <a:ext cx="10972526" cy="12700"/>
          </a:xfrm>
          <a:prstGeom prst="rect">
            <a:avLst/>
          </a:prstGeom>
          <a:solidFill>
            <a:srgbClr val="DDB4E6"/>
          </a:solidFill>
          <a:ln/>
        </p:spPr>
      </p:sp>
      <p:sp>
        <p:nvSpPr>
          <p:cNvPr id="12" name="Shape 6"/>
          <p:cNvSpPr/>
          <p:nvPr/>
        </p:nvSpPr>
        <p:spPr>
          <a:xfrm>
            <a:off x="609585" y="3729930"/>
            <a:ext cx="10972526" cy="12700"/>
          </a:xfrm>
          <a:prstGeom prst="rect">
            <a:avLst/>
          </a:prstGeom>
          <a:solidFill>
            <a:srgbClr val="DDB4E6"/>
          </a:solidFill>
          <a:ln/>
        </p:spPr>
      </p:sp>
      <p:sp>
        <p:nvSpPr>
          <p:cNvPr id="13" name="Shape 7"/>
          <p:cNvSpPr/>
          <p:nvPr/>
        </p:nvSpPr>
        <p:spPr>
          <a:xfrm>
            <a:off x="609585" y="5100241"/>
            <a:ext cx="10972526" cy="12700"/>
          </a:xfrm>
          <a:prstGeom prst="rect">
            <a:avLst/>
          </a:prstGeom>
          <a:solidFill>
            <a:srgbClr val="DDB4E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2026-10-07T09:56:01Z</dcterms:created>
  <dcterms:modified xsi:type="dcterms:W3CDTF">2026-10-07T09:56:01Z</dcterms:modified>
</cp:coreProperties>
</file>